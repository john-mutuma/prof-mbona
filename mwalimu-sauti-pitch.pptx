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5A623"/>
                </a:solidFill>
                <a:latin typeface="Calibri"/>
              </a:defRPr>
            </a:pPr>
            <a:r>
              <a:t>Mwalimu Sauti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Voice Teacher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Calibri"/>
              </a:defRPr>
            </a:pPr>
            <a:r>
              <a:t>"Every child deserves to learn in the language they dream in."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669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Microsoft Hackathon 2026  |  Powered by Paza API (Microsoft Research Africa)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A623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17M+ Kenyan children are taught in English — a language they barely speak at home.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Kenya's CBC mandates mother-tongue instruction in lower primary,</a:t>
            </a:r>
            <a:br/>
            <a:r>
              <a:t>but almost no STEM materials exist in local languages.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Fewer than 5% of teachers can teach science in Kikuyu, Maasai, or Dholuo.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Existing edtech assumes reading + typing + English</a:t>
            </a:r>
            <a:br/>
            <a:r>
              <a:t>— a wall for young or low-literacy learners.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Result: children fall behind in science before they even understand the question.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AA77C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A voice-first AI tutor that lets a child learn science</a:t>
            </a:r>
            <a:br/>
            <a:r>
              <a:t>by speaking in their mother tongue.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Child speaks a question in Kikuyu (or Swahili, Somali...)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An LLM tutor answers using culturally-grounded analogies</a:t>
            </a:r>
            <a:br/>
            <a:r>
              <a:t>(cattle, milk, fire, soil — not lab beakers)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The answer is spoken back in the child's own language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No reading. No typing. No English required.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Every spoken exchange becomes measurable learning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011680"/>
            <a:ext cx="2011680" cy="82296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D2D2D"/>
                </a:solidFill>
                <a:latin typeface="Calibri"/>
              </a:defRPr>
            </a:pPr>
            <a:r>
              <a:t>Child speaks</a:t>
            </a:r>
            <a:br/>
            <a:r>
              <a:t>(Kikuyu)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651760" y="2258568"/>
            <a:ext cx="457200" cy="32004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91840" y="2011680"/>
            <a:ext cx="1645920" cy="822960"/>
          </a:xfrm>
          <a:prstGeom prst="roundRect">
            <a:avLst/>
          </a:prstGeom>
          <a:solidFill>
            <a:srgbClr val="0AA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ASR</a:t>
            </a:r>
            <a:br/>
            <a:r>
              <a:t>(Speech→Text)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120640" y="2258568"/>
            <a:ext cx="457200" cy="32004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760720" y="2011680"/>
            <a:ext cx="1645920" cy="822960"/>
          </a:xfrm>
          <a:prstGeom prst="roundRect">
            <a:avLst/>
          </a:prstGeom>
          <a:solidFill>
            <a:srgbClr val="0AA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Translate</a:t>
            </a:r>
            <a:br/>
            <a:r>
              <a:t>(Kikuyu→En)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589520" y="2258568"/>
            <a:ext cx="457200" cy="32004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0" y="2011680"/>
            <a:ext cx="2011680" cy="822960"/>
          </a:xfrm>
          <a:prstGeom prst="roundRect">
            <a:avLst/>
          </a:prstGeom>
          <a:solidFill>
            <a:srgbClr val="33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LLM Tutor</a:t>
            </a:r>
            <a:br/>
            <a:r>
              <a:t>(Our Brain)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114800"/>
            <a:ext cx="2011680" cy="82296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D2D2D"/>
                </a:solidFill>
                <a:latin typeface="Calibri"/>
              </a:defRPr>
            </a:pPr>
            <a:r>
              <a:t>Child hears</a:t>
            </a:r>
            <a:br/>
            <a:r>
              <a:t>answer (Kikuyu)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651760" y="4361688"/>
            <a:ext cx="457200" cy="32004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91840" y="4114800"/>
            <a:ext cx="1645920" cy="822960"/>
          </a:xfrm>
          <a:prstGeom prst="roundRect">
            <a:avLst/>
          </a:prstGeom>
          <a:solidFill>
            <a:srgbClr val="0AA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TTS</a:t>
            </a:r>
            <a:br/>
            <a:r>
              <a:t>(Text→Speech)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120640" y="4361688"/>
            <a:ext cx="457200" cy="32004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760720" y="4114800"/>
            <a:ext cx="1645920" cy="822960"/>
          </a:xfrm>
          <a:prstGeom prst="roundRect">
            <a:avLst/>
          </a:prstGeom>
          <a:solidFill>
            <a:srgbClr val="0AA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Translate</a:t>
            </a:r>
            <a:br/>
            <a:r>
              <a:t>(En→Kikuyu)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589520" y="4361688"/>
            <a:ext cx="457200" cy="32004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0" y="4114800"/>
            <a:ext cx="2011680" cy="822960"/>
          </a:xfrm>
          <a:prstGeom prst="roundRect">
            <a:avLst/>
          </a:prstGeom>
          <a:solidFill>
            <a:srgbClr val="33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English</a:t>
            </a:r>
            <a:br/>
            <a:r>
              <a:t>Answer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486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Green = Paza API (Microsoft Research Africa, hosted)    |    Blue = Our LLM Tutor    |    Orange = The Child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Calibri"/>
              </a:defRPr>
            </a:pPr>
            <a:r>
              <a:t>INPUT: Child's question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657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Calibri"/>
              </a:defRPr>
            </a:pPr>
            <a:r>
              <a:t>OUTPUT: Spoken answer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A623"/>
                </a:solidFill>
                <a:latin typeface="Calibri"/>
              </a:defRPr>
            </a:pPr>
            <a:r>
              <a:t>Demo: A Child Asks About Milk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A623"/>
                </a:solidFill>
                <a:latin typeface="Calibri"/>
              </a:defRPr>
            </a:pPr>
            <a:r>
              <a:t>Child speaks (Kikuyu):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"Kĩrĩa gĩtũmaga iria rĩtuĩke rĩũmũ nĩ kĩĩ?"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A77C"/>
                </a:solidFill>
                <a:latin typeface="Calibri"/>
              </a:defRPr>
            </a:pPr>
            <a:r>
              <a:t>ASR transcribes + translates: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"Why does milk go sour?"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66CC"/>
                </a:solidFill>
                <a:latin typeface="Calibri"/>
              </a:defRPr>
            </a:pPr>
            <a:r>
              <a:t>LLM Tutor answers (English):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97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"When you leave milk in a warm gourd, tiny living things called</a:t>
            </a:r>
            <a:br/>
            <a:r>
              <a:t>bacteria eat the sugar in the milk and make it taste sour —</a:t>
            </a:r>
            <a:br/>
            <a:r>
              <a:t>just like how ugali goes bad if you leave it out.</a:t>
            </a:r>
            <a:br/>
            <a:r>
              <a:t>We call this fermentation. Can you think of another</a:t>
            </a:r>
            <a:br/>
            <a:r>
              <a:t>food that changes when you leave it out?"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120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A77C"/>
                </a:solidFill>
                <a:latin typeface="Calibri"/>
              </a:defRPr>
            </a:pPr>
            <a:r>
              <a:t>Translated + spoken back (Kikuyu):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486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Child hears the full explanation in their mother tongue.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What Makes It Different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2651760" cy="109728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Voice-First,</a:t>
            </a:r>
            <a:br/>
            <a:r>
              <a:t>Literacy-Free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92608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The entire loop is spoken.</a:t>
            </a:r>
            <a:br/>
            <a:r>
              <a:t>No reading or typing needed.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1645920"/>
            <a:ext cx="2651760" cy="1097280"/>
          </a:xfrm>
          <a:prstGeom prst="roundRect">
            <a:avLst/>
          </a:prstGeom>
          <a:solidFill>
            <a:srgbClr val="0AA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Culturally</a:t>
            </a:r>
            <a:br/>
            <a:r>
              <a:t>Grounded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292608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Teach via a child's world:</a:t>
            </a:r>
            <a:br/>
            <a:r>
              <a:t>milk, cattle, fire, soil</a:t>
            </a:r>
            <a:br/>
            <a:r>
              <a:t>— not lab beakers.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2651760" cy="1097280"/>
          </a:xfrm>
          <a:prstGeom prst="roundRect">
            <a:avLst/>
          </a:prstGeom>
          <a:solidFill>
            <a:srgbClr val="33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Vocabulary</a:t>
            </a:r>
            <a:br/>
            <a:r>
              <a:t>Bridging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92608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Concept in mother tongue first,</a:t>
            </a:r>
            <a:br/>
            <a:r>
              <a:t>then: "...we call this oxygen."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645920"/>
            <a:ext cx="2651760" cy="109728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Every Exchange</a:t>
            </a:r>
            <a:br/>
            <a:r>
              <a:t>= Assessment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292608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Spoken Q&amp;A becomes</a:t>
            </a:r>
            <a:br/>
            <a:r>
              <a:t>measurable learning data</a:t>
            </a:r>
            <a:br/>
            <a:r>
              <a:t>for teachers.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We only build the blue box. Everything else is hosted infrastructure.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86000"/>
            <a:ext cx="2286000" cy="1371600"/>
          </a:xfrm>
          <a:prstGeom prst="round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Browser</a:t>
            </a:r>
            <a:br/>
            <a:br/>
            <a:r>
              <a:t>Mic capture</a:t>
            </a:r>
            <a:br/>
            <a:r>
              <a:t>Audio playback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2286000"/>
            <a:ext cx="2743200" cy="1371600"/>
          </a:xfrm>
          <a:prstGeom prst="roundRect">
            <a:avLst/>
          </a:prstGeom>
          <a:solidFill>
            <a:srgbClr val="33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Our Backend</a:t>
            </a:r>
            <a:br/>
            <a:br/>
            <a:r>
              <a:t>Orchestrates pipeline</a:t>
            </a:r>
            <a:br/>
            <a:r>
              <a:t>Holds auth token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645920"/>
            <a:ext cx="3200400" cy="1097280"/>
          </a:xfrm>
          <a:prstGeom prst="roundRect">
            <a:avLst/>
          </a:prstGeom>
          <a:solidFill>
            <a:srgbClr val="0AA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Paza API</a:t>
            </a:r>
            <a:br/>
            <a:r>
              <a:t>(Microsoft Research Africa)</a:t>
            </a:r>
            <a:br/>
            <a:r>
              <a:t>ASR + Translation + TTS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3200400"/>
            <a:ext cx="3200400" cy="1097280"/>
          </a:xfrm>
          <a:prstGeom prst="roundRect">
            <a:avLst/>
          </a:prstGeom>
          <a:solidFill>
            <a:srgbClr val="33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Azure OpenAI</a:t>
            </a:r>
            <a:br/>
            <a:r>
              <a:t>GPT-4o</a:t>
            </a:r>
            <a:br/>
            <a:r>
              <a:t>CBC-grounded tutor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834640" y="2834640"/>
            <a:ext cx="1097280" cy="32004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6949440" y="2011680"/>
            <a:ext cx="1097280" cy="32004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6949440" y="3566160"/>
            <a:ext cx="1097280" cy="32004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Calibri"/>
              </a:defRPr>
            </a:pPr>
            <a:r>
              <a:t>Tech stack: Next.js (TypeScript) | Azure OpenAI (GPT-4o) | Paza API (ASR: MMS, Translation: NLLB, TTS: MMS-TTS)</a:t>
            </a:r>
            <a:br/>
            <a:r>
              <a:t>Languages supported end-to-end: Kikuyu, Swahili, Somali  |  Demo language: Kikuyu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AA77C"/>
                </a:solidFill>
                <a:latin typeface="Calibri"/>
              </a:defRPr>
            </a:pPr>
            <a:r>
              <a:t>Impact &amp;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Scaling path: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TODAY: Kikuyu (full voice loop confirmed) — 1 language, 3 science topics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NEXT: 6 Kenyan languages (Swahili, Dholuo, Kalenjin, Maasai, Somali)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FUTURE: 2,000+ African languages as speech models expand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Why this matters: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Paza's small models can run on $50 Android phones — offline-ready path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Mother-tongue instruction improves learning outcomes by 30-50% (UNESCO)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Voice-first = accessible to pre-literate children (ages 4-8)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Every conversation is a formative assessment — no separate testing needed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366CC"/>
                </a:solidFill>
                <a:latin typeface="Calibri"/>
              </a:defRPr>
            </a:pPr>
            <a:r>
              <a:t>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Teacher / Parent Dashboard — see what your child learned, track progress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More subjects — Math, Environmental Studies (aligned to Kenya CBC)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More languages — as Paza adds TTS for Dholuo, translation for Maasai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Offline mode — Paza models on-device for areas with no connectivity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Pilot with schools — partner with county education offices for real classroom testing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Adaptive difficulty — tutor adjusts complexity based on child's spoken responses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5A623"/>
                </a:solidFill>
                <a:latin typeface="Calibri"/>
              </a:defRPr>
            </a:pPr>
            <a:r>
              <a:t>Asante Sana!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Mwalimu Sauti — Voice Teacher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Built with:</a:t>
            </a:r>
            <a:br/>
            <a:r>
              <a:t>Paza API (Microsoft Research Africa) + Azure OpenAI</a:t>
            </a:r>
            <a:br/>
            <a:br/>
            <a:r>
              <a:t>Team: [Your Team Name]</a:t>
            </a:r>
            <a:br/>
            <a:r>
              <a:t>Contact: [your-email@microsoft.com]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760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Calibri"/>
              </a:defRPr>
            </a:pPr>
            <a:r>
              <a:t>"Paza sauti" — Raise your voice.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